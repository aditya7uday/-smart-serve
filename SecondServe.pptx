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2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69" r:id="rId17"/>
    <p:sldId id="279" r:id="rId18"/>
    <p:sldId id="270" r:id="rId19"/>
    <p:sldId id="276" r:id="rId20"/>
    <p:sldId id="281" r:id="rId28"/>
    <p:sldId id="277" r:id="rId21"/>
    <p:sldId id="278" r:id="rId22"/>
    <p:sldId id="280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4C3C2611-4C71-4FC5-86AE-919BDF0F9419}" styleName="">
    <a:wholeTbl>
      <a:tcTxStyle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4A7EBB"/>
              </a:solidFill>
              <a:prstDash val="solid"/>
              <a:round/>
            </a:ln>
          </a:left>
          <a:right>
            <a:ln w="9525" cap="flat">
              <a:solidFill>
                <a:srgbClr val="4A7EBB"/>
              </a:solidFill>
              <a:prstDash val="solid"/>
              <a:round/>
            </a:ln>
          </a:right>
          <a:top>
            <a:ln w="9525" cap="flat">
              <a:solidFill>
                <a:srgbClr val="4A7EBB"/>
              </a:solidFill>
              <a:prstDash val="solid"/>
              <a:round/>
            </a:ln>
          </a:top>
          <a:bottom>
            <a:ln w="9525" cap="flat">
              <a:solidFill>
                <a:srgbClr val="4A7EBB"/>
              </a:solidFill>
              <a:prstDash val="solid"/>
              <a:round/>
            </a:ln>
          </a:bottom>
          <a:insideH>
            <a:ln w="9525" cap="flat">
              <a:solidFill>
                <a:srgbClr val="4A7EBB"/>
              </a:solidFill>
              <a:prstDash val="solid"/>
              <a:round/>
            </a:ln>
          </a:insideH>
          <a:insideV>
            <a:ln w="9525" cap="flat">
              <a:solidFill>
                <a:srgbClr val="4A7EBB"/>
              </a:solidFill>
              <a:prstDash val="solid"/>
              <a:round/>
            </a:ln>
          </a:insideV>
        </a:tcBdr>
        <a:fill>
          <a:solidFill>
            <a:schemeClr val="accent1">
              <a:alpha val="40000"/>
            </a:schemeClr>
          </a:solidFill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 b="on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4A7EBB"/>
              </a:solidFill>
              <a:prstDash val="solid"/>
              <a:round/>
            </a:ln>
          </a:left>
          <a:right>
            <a:ln w="25400" cap="flat">
              <a:solidFill>
                <a:schemeClr val="accent1"/>
              </a:solidFill>
              <a:prstDash val="solid"/>
              <a:round/>
            </a:ln>
          </a:right>
          <a:top>
            <a:ln w="9525" cap="flat">
              <a:solidFill>
                <a:srgbClr val="4A7EBB"/>
              </a:solidFill>
              <a:prstDash val="solid"/>
              <a:round/>
            </a:ln>
          </a:top>
          <a:bottom>
            <a:ln w="9525" cap="flat">
              <a:solidFill>
                <a:srgbClr val="4A7EBB"/>
              </a:solidFill>
              <a:prstDash val="solid"/>
              <a:round/>
            </a:ln>
          </a:bottom>
          <a:insideH>
            <a:ln w="9525" cap="flat">
              <a:solidFill>
                <a:srgbClr val="4A7EBB"/>
              </a:solidFill>
              <a:prstDash val="solid"/>
              <a:round/>
            </a:ln>
          </a:insideH>
          <a:insideV>
            <a:ln w="9525" cap="flat">
              <a:solidFill>
                <a:srgbClr val="4A7EBB"/>
              </a:solidFill>
              <a:prstDash val="solid"/>
              <a:round/>
            </a:ln>
          </a:insideV>
        </a:tcBdr>
        <a:fill>
          <a:solidFill>
            <a:schemeClr val="accent1">
              <a:alpha val="40000"/>
            </a:schemeClr>
          </a:solidFill>
        </a:fill>
      </a:tcStyle>
    </a:firstCol>
    <a:lastRow>
      <a:tcTxStyle b="on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rgbClr val="4A7EBB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  <Relationship Id="rId28" Type="http://schemas.openxmlformats.org/officeDocument/2006/relationships/slide" Target="slides/slide22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2" name="Shape 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914400" y="2125979"/>
            <a:ext cx="10363200" cy="14401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828800" y="3840479"/>
            <a:ext cx="8534400" cy="1714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602994" y="442340"/>
            <a:ext cx="8986012" cy="57404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915669" y="1420722"/>
            <a:ext cx="10360661" cy="448881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602994" y="442340"/>
            <a:ext cx="8986012" cy="57404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915669" y="1420722"/>
            <a:ext cx="10360661" cy="448881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602994" y="442340"/>
            <a:ext cx="8986012" cy="57404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9600" y="1577339"/>
            <a:ext cx="5303521" cy="452628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1602994" y="442340"/>
            <a:ext cx="8986012" cy="57404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7259" y="6447704"/>
            <a:ext cx="171451" cy="1752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indent="12700">
              <a:lnSpc>
                <a:spcPts val="1400"/>
              </a:lnSpc>
              <a:defRPr sz="1200" spc="-25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36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1" i="0" u="none" strike="noStrike" cap="none" spc="0" baseline="0">
          <a:solidFill>
            <a:srgbClr val="000000"/>
          </a:solidFill>
          <a:uFillTx/>
          <a:latin typeface="Times New Roman" panose="02020603050405020304"/>
          <a:ea typeface="Times New Roman" panose="02020603050405020304"/>
          <a:cs typeface="Times New Roman" panose="02020603050405020304"/>
          <a:sym typeface="Times New Roman" panose="02020603050405020304"/>
        </a:defRPr>
      </a:lvl9pPr>
    </p:bodyStyle>
    <p:otherStyle>
      <a:lvl1pPr marL="0" marR="0" indent="12700" algn="l" defTabSz="914400" rtl="0" latinLnBrk="0">
        <a:lnSpc>
          <a:spcPts val="14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1pPr>
      <a:lvl2pPr marL="0" marR="0" indent="0" algn="l" defTabSz="914400" rtl="0" latinLnBrk="0">
        <a:lnSpc>
          <a:spcPts val="14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2pPr>
      <a:lvl3pPr marL="0" marR="0" indent="0" algn="l" defTabSz="914400" rtl="0" latinLnBrk="0">
        <a:lnSpc>
          <a:spcPts val="14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3pPr>
      <a:lvl4pPr marL="0" marR="0" indent="0" algn="l" defTabSz="914400" rtl="0" latinLnBrk="0">
        <a:lnSpc>
          <a:spcPts val="14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4pPr>
      <a:lvl5pPr marL="0" marR="0" indent="0" algn="l" defTabSz="914400" rtl="0" latinLnBrk="0">
        <a:lnSpc>
          <a:spcPts val="14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5pPr>
      <a:lvl6pPr marL="0" marR="0" indent="0" algn="l" defTabSz="914400" rtl="0" latinLnBrk="0">
        <a:lnSpc>
          <a:spcPts val="14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6pPr>
      <a:lvl7pPr marL="0" marR="0" indent="0" algn="l" defTabSz="914400" rtl="0" latinLnBrk="0">
        <a:lnSpc>
          <a:spcPts val="14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7pPr>
      <a:lvl8pPr marL="0" marR="0" indent="0" algn="l" defTabSz="914400" rtl="0" latinLnBrk="0">
        <a:lnSpc>
          <a:spcPts val="14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8pPr>
      <a:lvl9pPr marL="0" marR="0" indent="0" algn="l" defTabSz="914400" rtl="0" latinLnBrk="0">
        <a:lnSpc>
          <a:spcPts val="14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-25" baseline="0"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jpe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5" name="object 4"/>
          <p:cNvSpPr txBox="1"/>
          <p:nvPr/>
        </p:nvSpPr>
        <p:spPr>
          <a:xfrm>
            <a:off x="11609958" y="6438289"/>
            <a:ext cx="101601" cy="18402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1200" spc="-5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</a:t>
            </a:r>
          </a:p>
        </p:txBody>
      </p:sp>
      <p:sp>
        <p:nvSpPr>
          <p:cNvPr id="66" name="object 5"/>
          <p:cNvSpPr txBox="1"/>
          <p:nvPr/>
        </p:nvSpPr>
        <p:spPr>
          <a:xfrm>
            <a:off x="481684" y="6438289"/>
            <a:ext cx="735966" cy="18402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67" name="object 6"/>
          <p:cNvSpPr txBox="1"/>
          <p:nvPr/>
        </p:nvSpPr>
        <p:spPr>
          <a:xfrm>
            <a:off x="4415154" y="6438289"/>
            <a:ext cx="3531871" cy="18402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25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</a:t>
            </a:r>
            <a:r>
              <a:rPr spc="5"/>
              <a:t> </a:t>
            </a:r>
            <a:r>
              <a:t>and</a:t>
            </a:r>
            <a:r>
              <a:rPr spc="-35"/>
              <a:t> </a:t>
            </a:r>
            <a:r>
              <a:t>Engineering,</a:t>
            </a:r>
            <a:r>
              <a:rPr spc="-25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68" name="object 7"/>
          <p:cNvSpPr txBox="1">
            <a:spLocks noGrp="1"/>
          </p:cNvSpPr>
          <p:nvPr>
            <p:ph type="title"/>
          </p:nvPr>
        </p:nvSpPr>
        <p:spPr>
          <a:xfrm>
            <a:off x="1752600" y="298213"/>
            <a:ext cx="9670416" cy="1213154"/>
          </a:xfrm>
          <a:prstGeom prst="rect">
            <a:avLst/>
          </a:prstGeom>
        </p:spPr>
        <p:txBody>
          <a:bodyPr/>
          <a:lstStyle/>
          <a:p>
            <a:pPr marR="5080" indent="510540" algn="ctr">
              <a:spcBef>
                <a:spcPts val="100"/>
              </a:spcBef>
              <a:defRPr sz="2600"/>
            </a:pPr>
            <a:r>
              <a:t>SCMS</a:t>
            </a:r>
            <a:r>
              <a:rPr spc="-100"/>
              <a:t> </a:t>
            </a:r>
            <a:r>
              <a:t>SCHOOL</a:t>
            </a:r>
            <a:r>
              <a:rPr spc="-200"/>
              <a:t> </a:t>
            </a:r>
            <a:r>
              <a:t>OF</a:t>
            </a:r>
            <a:r>
              <a:rPr spc="-100"/>
              <a:t> ENGINEERING</a:t>
            </a:r>
            <a:r>
              <a:rPr spc="-200"/>
              <a:t> </a:t>
            </a:r>
            <a:r>
              <a:t>AND</a:t>
            </a:r>
            <a:r>
              <a:rPr spc="-100"/>
              <a:t> TECHNOLOGY DEPARTMENT </a:t>
            </a:r>
            <a:r>
              <a:t>OF</a:t>
            </a:r>
            <a:r>
              <a:rPr spc="-100"/>
              <a:t> </a:t>
            </a:r>
            <a:r>
              <a:t>COMPUTER</a:t>
            </a:r>
            <a:r>
              <a:rPr spc="-100"/>
              <a:t> SCIENCE</a:t>
            </a:r>
            <a:r>
              <a:rPr spc="-200"/>
              <a:t> </a:t>
            </a:r>
            <a:r>
              <a:t>AND</a:t>
            </a:r>
            <a:r>
              <a:rPr spc="-100"/>
              <a:t> ENGINEERING</a:t>
            </a:r>
            <a:br>
              <a:rPr spc="-100"/>
            </a:br>
            <a:r>
              <a:rPr spc="-100"/>
              <a:t>P.G. PROGRAMME- MCA</a:t>
            </a:r>
            <a:endParaRPr spc="-100"/>
          </a:p>
        </p:txBody>
      </p:sp>
      <p:sp>
        <p:nvSpPr>
          <p:cNvPr id="69" name="object 9"/>
          <p:cNvSpPr txBox="1"/>
          <p:nvPr/>
        </p:nvSpPr>
        <p:spPr>
          <a:xfrm>
            <a:off x="366537" y="4261563"/>
            <a:ext cx="2798315" cy="126957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/>
              <a:t>Project</a:t>
            </a:r>
            <a:r>
              <a:rPr spc="-55" dirty="0"/>
              <a:t> </a:t>
            </a:r>
            <a:r>
              <a:rPr dirty="0"/>
              <a:t>Guide</a:t>
            </a:r>
            <a:r>
              <a:rPr spc="-39" dirty="0"/>
              <a:t> </a:t>
            </a:r>
            <a:r>
              <a:rPr spc="-50" dirty="0"/>
              <a:t>:</a:t>
            </a:r>
            <a:endParaRPr spc="-50" dirty="0"/>
          </a:p>
          <a:p>
            <a:pPr indent="12700">
              <a:spcBef>
                <a:spcPts val="100"/>
              </a:spcBef>
              <a:defRPr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IN" sz="2000" dirty="0" err="1">
                <a:latin typeface="Times New Roman" panose="02020603050405020304"/>
                <a:cs typeface="Times New Roman" panose="02020603050405020304"/>
              </a:rPr>
              <a:t>Mrs.Demy</a:t>
            </a:r>
            <a:r>
              <a:rPr lang="en-IN" sz="2000" dirty="0">
                <a:latin typeface="Times New Roman" panose="02020603050405020304"/>
                <a:cs typeface="Times New Roman" panose="02020603050405020304"/>
              </a:rPr>
              <a:t> Devassy</a:t>
            </a:r>
            <a:endParaRPr dirty="0"/>
          </a:p>
          <a:p>
            <a:pPr indent="12700">
              <a:spcBef>
                <a:spcPts val="100"/>
              </a:spcBef>
              <a:defRPr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lang="en-US" dirty="0"/>
              <a:t>Assistant </a:t>
            </a:r>
            <a:r>
              <a:rPr dirty="0"/>
              <a:t>Professor</a:t>
            </a:r>
            <a:endParaRPr dirty="0"/>
          </a:p>
          <a:p>
            <a:pPr indent="12700">
              <a:spcBef>
                <a:spcPts val="100"/>
              </a:spcBef>
              <a:defRPr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/>
              <a:t>Department</a:t>
            </a:r>
            <a:r>
              <a:rPr spc="-5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CSE, </a:t>
            </a:r>
            <a:r>
              <a:rPr spc="-19" dirty="0"/>
              <a:t>SSET</a:t>
            </a:r>
            <a:endParaRPr spc="-19" dirty="0"/>
          </a:p>
        </p:txBody>
      </p:sp>
      <p:sp>
        <p:nvSpPr>
          <p:cNvPr id="70" name="object 11"/>
          <p:cNvSpPr/>
          <p:nvPr/>
        </p:nvSpPr>
        <p:spPr>
          <a:xfrm>
            <a:off x="3830320" y="73430"/>
            <a:ext cx="4407917" cy="2393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71" name="object 9"/>
          <p:cNvSpPr txBox="1"/>
          <p:nvPr/>
        </p:nvSpPr>
        <p:spPr>
          <a:xfrm>
            <a:off x="10002131" y="4369797"/>
            <a:ext cx="2798314" cy="106753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77165" marR="5080" indent="-165100">
              <a:lnSpc>
                <a:spcPct val="116000"/>
              </a:lnSpc>
              <a:spcBef>
                <a:spcPts val="100"/>
              </a:spcBef>
              <a:defRPr sz="2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/>
              <a:t>Presented</a:t>
            </a:r>
            <a:r>
              <a:rPr spc="-55" dirty="0"/>
              <a:t> </a:t>
            </a:r>
            <a:r>
              <a:rPr dirty="0"/>
              <a:t>by</a:t>
            </a:r>
            <a:r>
              <a:rPr spc="-45" dirty="0"/>
              <a:t> </a:t>
            </a:r>
            <a:r>
              <a:rPr spc="-50" dirty="0"/>
              <a:t>:</a:t>
            </a:r>
            <a:endParaRPr spc="-50" dirty="0"/>
          </a:p>
          <a:p>
            <a:pPr marL="177165" marR="5080" indent="-165100">
              <a:lnSpc>
                <a:spcPct val="116000"/>
              </a:lnSpc>
              <a:spcBef>
                <a:spcPts val="100"/>
              </a:spcBef>
              <a:defRPr sz="2000" spc="-5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/>
              <a:t>Aditya </a:t>
            </a:r>
            <a:r>
              <a:rPr lang="en-IN" dirty="0"/>
              <a:t>Uday</a:t>
            </a:r>
            <a:endParaRPr dirty="0"/>
          </a:p>
          <a:p>
            <a:pPr marL="177165" marR="5080" indent="-165100">
              <a:lnSpc>
                <a:spcPct val="116000"/>
              </a:lnSpc>
              <a:spcBef>
                <a:spcPts val="100"/>
              </a:spcBef>
              <a:defRPr sz="2000" spc="-9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rPr dirty="0"/>
              <a:t>SCM25MCA200</a:t>
            </a:r>
            <a:r>
              <a:rPr lang="en-IN" dirty="0"/>
              <a:t>3</a:t>
            </a:r>
            <a:endParaRPr dirty="0"/>
          </a:p>
        </p:txBody>
      </p:sp>
      <p:sp>
        <p:nvSpPr>
          <p:cNvPr id="72" name="Review 1 - System Requirements &amp; Specification"/>
          <p:cNvSpPr txBox="1"/>
          <p:nvPr/>
        </p:nvSpPr>
        <p:spPr>
          <a:xfrm>
            <a:off x="1903796" y="2016119"/>
            <a:ext cx="9299980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dirty="0"/>
              <a:t>Review</a:t>
            </a:r>
            <a:r>
              <a:rPr lang="en-IN" dirty="0"/>
              <a:t> 2</a:t>
            </a:r>
            <a:r>
              <a:rPr dirty="0"/>
              <a:t> - System Requirements &amp; Specification</a:t>
            </a:r>
            <a:endParaRPr dirty="0"/>
          </a:p>
        </p:txBody>
      </p:sp>
      <p:sp>
        <p:nvSpPr>
          <p:cNvPr id="73" name="OPEN TRAIL"/>
          <p:cNvSpPr txBox="1"/>
          <p:nvPr/>
        </p:nvSpPr>
        <p:spPr>
          <a:xfrm>
            <a:off x="5050060" y="3126290"/>
            <a:ext cx="3413753" cy="64633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3600" b="1">
                <a:solidFill>
                  <a:srgbClr val="EA332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rPr lang="en-IN" dirty="0"/>
              <a:t>SMART SERVE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76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pic>
        <p:nvPicPr>
          <p:cNvPr id="77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8" name="object 4"/>
          <p:cNvSpPr txBox="1">
            <a:spLocks noGrp="1"/>
          </p:cNvSpPr>
          <p:nvPr>
            <p:ph type="title"/>
          </p:nvPr>
        </p:nvSpPr>
        <p:spPr>
          <a:xfrm>
            <a:off x="1602993" y="442340"/>
            <a:ext cx="8986013" cy="530899"/>
          </a:xfrm>
          <a:prstGeom prst="rect">
            <a:avLst/>
          </a:prstGeom>
        </p:spPr>
        <p:txBody>
          <a:bodyPr>
            <a:noAutofit/>
          </a:bodyPr>
          <a:lstStyle>
            <a:lvl1pPr indent="88900" algn="ctr">
              <a:spcBef>
                <a:spcPts val="100"/>
              </a:spcBef>
              <a:defRPr spc="-100"/>
            </a:lvl1pPr>
          </a:lstStyle>
          <a:p>
            <a:r>
              <a:rPr dirty="0"/>
              <a:t>Introduction</a:t>
            </a:r>
            <a:endParaRPr dirty="0"/>
          </a:p>
        </p:txBody>
      </p:sp>
      <p:sp>
        <p:nvSpPr>
          <p:cNvPr id="79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80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097259" y="6447704"/>
            <a:ext cx="127001" cy="1752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81" name="object 5"/>
          <p:cNvSpPr txBox="1"/>
          <p:nvPr/>
        </p:nvSpPr>
        <p:spPr>
          <a:xfrm>
            <a:off x="912495" y="1589698"/>
            <a:ext cx="10367010" cy="406502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lang="en-US"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Serve</a:t>
            </a:r>
            <a:r>
              <a:rPr lang="en-US" sz="20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lang="en-US"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lang="en-US"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spc="-10" dirty="0">
                <a:latin typeface="Times New Roman" panose="02020603050405020304"/>
                <a:cs typeface="Times New Roman" panose="02020603050405020304"/>
              </a:rPr>
              <a:t>web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based canteen</a:t>
            </a:r>
            <a:r>
              <a:rPr lang="en-US"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management</a:t>
            </a:r>
            <a:r>
              <a:rPr lang="en-US" sz="20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lang="en-US" sz="20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that</a:t>
            </a:r>
            <a:r>
              <a:rPr lang="en-US"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enables</a:t>
            </a:r>
            <a:r>
              <a:rPr lang="en-US"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online</a:t>
            </a:r>
            <a:r>
              <a:rPr lang="en-US" sz="20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spc="-20" dirty="0">
                <a:latin typeface="Times New Roman" panose="02020603050405020304"/>
                <a:cs typeface="Times New Roman" panose="02020603050405020304"/>
              </a:rPr>
              <a:t>food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ordering,</a:t>
            </a:r>
            <a:r>
              <a:rPr lang="en-US" sz="20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meal</a:t>
            </a:r>
            <a:r>
              <a:rPr lang="en-US"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customization,</a:t>
            </a:r>
            <a:r>
              <a:rPr lang="en-US"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secure</a:t>
            </a:r>
            <a:r>
              <a:rPr lang="en-US"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payments,</a:t>
            </a:r>
            <a:r>
              <a:rPr lang="en-US" sz="20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20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order</a:t>
            </a:r>
            <a:r>
              <a:rPr lang="en-US"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tracking.</a:t>
            </a:r>
            <a:r>
              <a:rPr lang="en-US" sz="20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It</a:t>
            </a:r>
            <a:r>
              <a:rPr lang="en-US" sz="20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reduces</a:t>
            </a:r>
            <a:r>
              <a:rPr lang="en-US"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spc="-10" dirty="0">
                <a:latin typeface="Times New Roman" panose="02020603050405020304"/>
                <a:cs typeface="Times New Roman" panose="02020603050405020304"/>
              </a:rPr>
              <a:t>waiting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lang="en-US" sz="20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20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improves</a:t>
            </a:r>
            <a:r>
              <a:rPr lang="en-US" sz="20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lang="en-US"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efficiency</a:t>
            </a:r>
            <a:r>
              <a:rPr lang="en-US" sz="20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z="20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college</a:t>
            </a:r>
            <a:r>
              <a:rPr lang="en-US" sz="20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dirty="0">
                <a:latin typeface="Times New Roman" panose="02020603050405020304"/>
                <a:cs typeface="Times New Roman" panose="02020603050405020304"/>
              </a:rPr>
              <a:t>canteen</a:t>
            </a:r>
            <a:r>
              <a:rPr lang="en-US" sz="20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spc="-10" dirty="0">
                <a:latin typeface="Times New Roman" panose="02020603050405020304"/>
                <a:cs typeface="Times New Roman" panose="02020603050405020304"/>
              </a:rPr>
              <a:t>operations.</a:t>
            </a:r>
            <a:endParaRPr lang="en-US"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online food ordering and meal customization for students and staff.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user registration, login, and online payment facilities.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order tracking with scheduled pickup and delivery.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an admin panel for managing menus, inventory, pricing, and orders.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endParaRPr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/>
      </p:par>
    </p:tnLst>
    <p:bldLst>
      <p:bldP spid="81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roblem Identif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dirty="0"/>
              <a:t>Problem </a:t>
            </a:r>
            <a:r>
              <a:rPr lang="en-IN" dirty="0"/>
              <a:t>Definition</a:t>
            </a:r>
            <a:endParaRPr dirty="0"/>
          </a:p>
        </p:txBody>
      </p:sp>
      <p:sp>
        <p:nvSpPr>
          <p:cNvPr id="84" name="Lack of real-time group coordination: Riders often face difficulty monitoring the live location and status of other members during a group rid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Students often have to wait in long queues during busy hours.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Manual ordering can cause delays and mistakes.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Customers may not know the current availability of food items.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Menu and pricing management can be difficult when handled manually.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Maintaining order records manually is inefficient.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Managing inventory and orders separately increases workload.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Payment and order information may not be centralized.</a:t>
            </a:r>
            <a:endParaRPr lang="en-IN" b="0" dirty="0"/>
          </a:p>
          <a:p>
            <a:pPr marL="546100" indent="-342900" defTabSz="12700">
              <a:lnSpc>
                <a:spcPct val="135000"/>
              </a:lnSpc>
              <a:buSzPct val="100000"/>
              <a:buFont typeface="Arial" panose="020B0604020202020204" pitchFamily="34" charset="0"/>
              <a:buChar char="•"/>
              <a:defRPr b="0"/>
            </a:pPr>
            <a:endParaRPr b="0" dirty="0"/>
          </a:p>
        </p:txBody>
      </p:sp>
      <p:pic>
        <p:nvPicPr>
          <p:cNvPr id="85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86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87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88" name="4"/>
          <p:cNvSpPr txBox="1">
            <a:spLocks noGrp="1"/>
          </p:cNvSpPr>
          <p:nvPr>
            <p:ph type="sldNum" sz="quarter" idx="4294967295"/>
          </p:nvPr>
        </p:nvSpPr>
        <p:spPr>
          <a:xfrm>
            <a:off x="11097259" y="6447704"/>
            <a:ext cx="127001" cy="1752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89" name="object 2"/>
          <p:cNvSpPr txBox="1"/>
          <p:nvPr/>
        </p:nvSpPr>
        <p:spPr>
          <a:xfrm>
            <a:off x="2486659" y="90830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bjectiv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dirty="0"/>
              <a:t>Objectives</a:t>
            </a:r>
            <a:endParaRPr dirty="0"/>
          </a:p>
        </p:txBody>
      </p:sp>
      <p:sp>
        <p:nvSpPr>
          <p:cNvPr id="92" name="To develop a real-time group ride coordination system that enables riders to share and monitor their live locations on a common map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5600" indent="-342900"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298450" algn="l"/>
              </a:tabLst>
            </a:pPr>
            <a:endParaRPr lang="en-US" b="0" dirty="0"/>
          </a:p>
          <a:p>
            <a:pPr marL="355600" indent="-342900"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US" b="0" dirty="0"/>
              <a:t>Digitize</a:t>
            </a:r>
            <a:r>
              <a:rPr lang="en-US" b="0" spc="-35" dirty="0"/>
              <a:t> </a:t>
            </a:r>
            <a:r>
              <a:rPr lang="en-US" b="0" dirty="0"/>
              <a:t>the</a:t>
            </a:r>
            <a:r>
              <a:rPr lang="en-US" b="0" spc="-30" dirty="0"/>
              <a:t> </a:t>
            </a:r>
            <a:r>
              <a:rPr lang="en-US" b="0" dirty="0"/>
              <a:t>college</a:t>
            </a:r>
            <a:r>
              <a:rPr lang="en-US" b="0" spc="-30" dirty="0"/>
              <a:t> </a:t>
            </a:r>
            <a:r>
              <a:rPr lang="en-US" b="0" dirty="0"/>
              <a:t>canteen</a:t>
            </a:r>
            <a:r>
              <a:rPr lang="en-US" b="0" spc="-15" dirty="0"/>
              <a:t> </a:t>
            </a:r>
            <a:r>
              <a:rPr lang="en-US" b="0" dirty="0"/>
              <a:t>ordering</a:t>
            </a:r>
            <a:r>
              <a:rPr lang="en-US" b="0" spc="-45" dirty="0"/>
              <a:t> </a:t>
            </a:r>
            <a:r>
              <a:rPr lang="en-US" b="0" spc="-10" dirty="0"/>
              <a:t>process.</a:t>
            </a:r>
            <a:endParaRPr lang="en-US" b="0" dirty="0"/>
          </a:p>
          <a:p>
            <a:pPr marL="355600" indent="-342900">
              <a:buFont typeface="Wingdings" panose="05000000000000000000" pitchFamily="2" charset="2"/>
              <a:buChar char="Ø"/>
              <a:tabLst>
                <a:tab pos="298450" algn="l"/>
              </a:tabLst>
            </a:pPr>
            <a:endParaRPr lang="en-US" b="0" dirty="0"/>
          </a:p>
          <a:p>
            <a:pPr marL="355600" indent="-342900"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US" b="0" dirty="0"/>
              <a:t>Enable</a:t>
            </a:r>
            <a:r>
              <a:rPr lang="en-US" b="0" spc="-45" dirty="0"/>
              <a:t> </a:t>
            </a:r>
            <a:r>
              <a:rPr lang="en-US" b="0" dirty="0"/>
              <a:t>online</a:t>
            </a:r>
            <a:r>
              <a:rPr lang="en-US" b="0" spc="-65" dirty="0"/>
              <a:t> </a:t>
            </a:r>
            <a:r>
              <a:rPr lang="en-US" b="0" dirty="0"/>
              <a:t>food</a:t>
            </a:r>
            <a:r>
              <a:rPr lang="en-US" b="0" spc="-10" dirty="0"/>
              <a:t> </a:t>
            </a:r>
            <a:r>
              <a:rPr lang="en-US" b="0" dirty="0"/>
              <a:t>ordering</a:t>
            </a:r>
            <a:r>
              <a:rPr lang="en-US" b="0" spc="-50" dirty="0"/>
              <a:t> </a:t>
            </a:r>
            <a:r>
              <a:rPr lang="en-US" b="0" dirty="0"/>
              <a:t>and</a:t>
            </a:r>
            <a:r>
              <a:rPr lang="en-US" b="0" spc="-25" dirty="0"/>
              <a:t> </a:t>
            </a:r>
            <a:r>
              <a:rPr lang="en-US" b="0" dirty="0"/>
              <a:t>meal</a:t>
            </a:r>
            <a:r>
              <a:rPr lang="en-US" b="0" spc="10" dirty="0"/>
              <a:t> </a:t>
            </a:r>
            <a:r>
              <a:rPr lang="en-US" b="0" spc="-10" dirty="0"/>
              <a:t>customization.</a:t>
            </a:r>
            <a:endParaRPr lang="en-US" b="0" dirty="0"/>
          </a:p>
          <a:p>
            <a:pPr marL="355600" indent="-342900">
              <a:buFont typeface="Wingdings" panose="05000000000000000000" pitchFamily="2" charset="2"/>
              <a:buChar char="Ø"/>
              <a:tabLst>
                <a:tab pos="298450" algn="l"/>
              </a:tabLst>
            </a:pPr>
            <a:endParaRPr lang="en-US" b="0" dirty="0"/>
          </a:p>
          <a:p>
            <a:pPr marL="355600" indent="-342900"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US" b="0" dirty="0"/>
              <a:t>Reduce</a:t>
            </a:r>
            <a:r>
              <a:rPr lang="en-US" b="0" spc="-25" dirty="0"/>
              <a:t> </a:t>
            </a:r>
            <a:r>
              <a:rPr lang="en-US" b="0" dirty="0"/>
              <a:t>queues</a:t>
            </a:r>
            <a:r>
              <a:rPr lang="en-US" b="0" spc="-35" dirty="0"/>
              <a:t> </a:t>
            </a:r>
            <a:r>
              <a:rPr lang="en-US" b="0" dirty="0"/>
              <a:t>through</a:t>
            </a:r>
            <a:r>
              <a:rPr lang="en-US" b="0" spc="-45" dirty="0"/>
              <a:t> </a:t>
            </a:r>
            <a:r>
              <a:rPr lang="en-US" b="0" dirty="0"/>
              <a:t>pre-</a:t>
            </a:r>
            <a:r>
              <a:rPr lang="en-US" b="0" spc="-10" dirty="0"/>
              <a:t>ordering.</a:t>
            </a:r>
            <a:endParaRPr lang="en-US" b="0" dirty="0"/>
          </a:p>
          <a:p>
            <a:pPr marL="355600" indent="-342900"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298450" algn="l"/>
              </a:tabLst>
            </a:pPr>
            <a:endParaRPr lang="en-US" b="0" dirty="0"/>
          </a:p>
          <a:p>
            <a:pPr marL="355600" indent="-342900">
              <a:spcBef>
                <a:spcPts val="5"/>
              </a:spcBef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US" b="0" dirty="0"/>
              <a:t>Provide</a:t>
            </a:r>
            <a:r>
              <a:rPr lang="en-US" b="0" spc="-80" dirty="0"/>
              <a:t> </a:t>
            </a:r>
            <a:r>
              <a:rPr lang="en-US" b="0" dirty="0"/>
              <a:t>secure</a:t>
            </a:r>
            <a:r>
              <a:rPr lang="en-US" b="0" spc="-15" dirty="0"/>
              <a:t> </a:t>
            </a:r>
            <a:r>
              <a:rPr lang="en-US" b="0" dirty="0"/>
              <a:t>payment</a:t>
            </a:r>
            <a:r>
              <a:rPr lang="en-US" b="0" spc="20" dirty="0"/>
              <a:t> </a:t>
            </a:r>
            <a:r>
              <a:rPr lang="en-US" b="0" dirty="0"/>
              <a:t>and</a:t>
            </a:r>
            <a:r>
              <a:rPr lang="en-US" b="0" spc="-40" dirty="0"/>
              <a:t> </a:t>
            </a:r>
            <a:r>
              <a:rPr lang="en-US" b="0" dirty="0"/>
              <a:t>order</a:t>
            </a:r>
            <a:r>
              <a:rPr lang="en-US" b="0" spc="-50" dirty="0"/>
              <a:t> </a:t>
            </a:r>
            <a:r>
              <a:rPr lang="en-US" b="0" spc="-10" dirty="0"/>
              <a:t>tracking.</a:t>
            </a:r>
            <a:endParaRPr lang="en-US" b="0" dirty="0"/>
          </a:p>
          <a:p>
            <a:pPr marL="355600" indent="-342900">
              <a:buFont typeface="Wingdings" panose="05000000000000000000" pitchFamily="2" charset="2"/>
              <a:buChar char="Ø"/>
              <a:tabLst>
                <a:tab pos="298450" algn="l"/>
              </a:tabLst>
            </a:pPr>
            <a:endParaRPr lang="en-US" b="0" dirty="0"/>
          </a:p>
          <a:p>
            <a:pPr marL="355600" indent="-342900"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US" b="0" dirty="0"/>
              <a:t>Simplify</a:t>
            </a:r>
            <a:r>
              <a:rPr lang="en-US" b="0" spc="-15" dirty="0"/>
              <a:t> </a:t>
            </a:r>
            <a:r>
              <a:rPr lang="en-US" b="0" dirty="0"/>
              <a:t>menu</a:t>
            </a:r>
            <a:r>
              <a:rPr lang="en-US" b="0" spc="5" dirty="0"/>
              <a:t> </a:t>
            </a:r>
            <a:r>
              <a:rPr lang="en-US" b="0" dirty="0"/>
              <a:t>and</a:t>
            </a:r>
            <a:r>
              <a:rPr lang="en-US" b="0" spc="-35" dirty="0"/>
              <a:t> </a:t>
            </a:r>
            <a:r>
              <a:rPr lang="en-US" b="0" dirty="0"/>
              <a:t>order</a:t>
            </a:r>
            <a:r>
              <a:rPr lang="en-US" b="0" spc="-50" dirty="0"/>
              <a:t> </a:t>
            </a:r>
            <a:r>
              <a:rPr lang="en-US" b="0" spc="-10" dirty="0"/>
              <a:t>management.</a:t>
            </a:r>
            <a:endParaRPr lang="en-US" b="0" spc="-10" dirty="0"/>
          </a:p>
          <a:p>
            <a:pPr marL="355600" indent="-342900">
              <a:buFont typeface="Wingdings" panose="05000000000000000000" pitchFamily="2" charset="2"/>
              <a:buChar char="Ø"/>
              <a:tabLst>
                <a:tab pos="298450" algn="l"/>
              </a:tabLst>
            </a:pPr>
            <a:endParaRPr lang="en-US" b="0" spc="-10" dirty="0"/>
          </a:p>
          <a:p>
            <a:pPr marL="355600" indent="-342900"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IN" b="0" dirty="0"/>
              <a:t>To maintain digital records of orders and transactions</a:t>
            </a:r>
            <a:endParaRPr lang="en-US" b="0" dirty="0"/>
          </a:p>
          <a:p>
            <a:pPr marL="546100" indent="-342900" defTabSz="12700">
              <a:lnSpc>
                <a:spcPct val="135000"/>
              </a:lnSpc>
              <a:buSzPct val="100000"/>
              <a:buFont typeface="Wingdings" panose="05000000000000000000" pitchFamily="2" charset="2"/>
              <a:buChar char="Ø"/>
              <a:defRPr b="0"/>
            </a:pPr>
            <a:endParaRPr b="0" dirty="0"/>
          </a:p>
        </p:txBody>
      </p:sp>
      <p:sp>
        <p:nvSpPr>
          <p:cNvPr id="93" name="4"/>
          <p:cNvSpPr txBox="1">
            <a:spLocks noGrp="1"/>
          </p:cNvSpPr>
          <p:nvPr>
            <p:ph type="sldNum" sz="quarter" idx="4294967295"/>
          </p:nvPr>
        </p:nvSpPr>
        <p:spPr>
          <a:xfrm>
            <a:off x="11097259" y="6447704"/>
            <a:ext cx="127001" cy="1752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94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5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96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97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Existing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dirty="0"/>
              <a:t>Existing System</a:t>
            </a:r>
            <a:endParaRPr dirty="0"/>
          </a:p>
        </p:txBody>
      </p:sp>
      <p:sp>
        <p:nvSpPr>
          <p:cNvPr id="100" name="Navigation applications primarily focus on individual navigation and provide limited functionality for dedicated group ride management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N" sz="2400" b="0" dirty="0"/>
              <a:t>The traditional college canteen generally depends on:</a:t>
            </a:r>
            <a:endParaRPr lang="en-IN" sz="2400" b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0" dirty="0"/>
              <a:t>Customer</a:t>
            </a:r>
            <a:r>
              <a:rPr lang="en-IN" b="0" dirty="0">
                <a:sym typeface="Wingdings" panose="05000000000000000000" pitchFamily="2" charset="2"/>
              </a:rPr>
              <a:t></a:t>
            </a:r>
            <a:r>
              <a:rPr lang="en-IN" b="0" dirty="0"/>
              <a:t> Queue </a:t>
            </a:r>
            <a:r>
              <a:rPr lang="en-IN" b="0" dirty="0">
                <a:sym typeface="Wingdings" panose="05000000000000000000" pitchFamily="2" charset="2"/>
              </a:rPr>
              <a:t></a:t>
            </a:r>
            <a:r>
              <a:rPr lang="en-IN" b="0" dirty="0"/>
              <a:t>Counter</a:t>
            </a:r>
            <a:r>
              <a:rPr lang="en-IN" b="0" dirty="0">
                <a:sym typeface="Wingdings" panose="05000000000000000000" pitchFamily="2" charset="2"/>
              </a:rPr>
              <a:t></a:t>
            </a:r>
            <a:r>
              <a:rPr lang="en-IN" b="0" dirty="0"/>
              <a:t> Manual Order </a:t>
            </a:r>
            <a:r>
              <a:rPr lang="en-IN" b="0" dirty="0">
                <a:sym typeface="Wingdings" panose="05000000000000000000" pitchFamily="2" charset="2"/>
              </a:rPr>
              <a:t></a:t>
            </a:r>
            <a:r>
              <a:rPr lang="en-IN" b="0" dirty="0"/>
              <a:t>Food Preparation </a:t>
            </a:r>
            <a:r>
              <a:rPr lang="en-IN" b="0" dirty="0">
                <a:sym typeface="Wingdings" panose="05000000000000000000" pitchFamily="2" charset="2"/>
              </a:rPr>
              <a:t></a:t>
            </a:r>
            <a:r>
              <a:rPr lang="en-IN" b="0" dirty="0"/>
              <a:t> Payment</a:t>
            </a:r>
            <a:r>
              <a:rPr lang="en-IN" b="0" dirty="0">
                <a:sym typeface="Wingdings" panose="05000000000000000000" pitchFamily="2" charset="2"/>
              </a:rPr>
              <a:t></a:t>
            </a:r>
            <a:r>
              <a:rPr lang="en-IN" b="0" dirty="0"/>
              <a:t> Collection</a:t>
            </a:r>
            <a:endParaRPr lang="en-IN" b="0" dirty="0"/>
          </a:p>
          <a:p>
            <a:endParaRPr lang="en-IN" b="0" dirty="0"/>
          </a:p>
          <a:p>
            <a:r>
              <a:rPr lang="en-IN" sz="2400" b="0" dirty="0"/>
              <a:t>Limitations</a:t>
            </a:r>
            <a:endParaRPr lang="en-IN" sz="2400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Long queues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Increased waiting time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Manual order processing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Difficulty handling peak-time orders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Limited order customization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Manual record keeping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Difficult inventory monitoring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Less convenient for students and staff</a:t>
            </a:r>
            <a:endParaRPr lang="en-IN" b="0" dirty="0"/>
          </a:p>
          <a:p>
            <a:pPr marL="546100" indent="-342900" defTabSz="12700">
              <a:lnSpc>
                <a:spcPct val="135000"/>
              </a:lnSpc>
              <a:buSzPct val="100000"/>
              <a:buFont typeface="Arial" panose="020B0604020202020204" pitchFamily="34" charset="0"/>
              <a:buChar char="•"/>
              <a:defRPr b="0"/>
            </a:pPr>
            <a:endParaRPr b="0" dirty="0"/>
          </a:p>
        </p:txBody>
      </p:sp>
      <p:sp>
        <p:nvSpPr>
          <p:cNvPr id="101" name="4"/>
          <p:cNvSpPr txBox="1">
            <a:spLocks noGrp="1"/>
          </p:cNvSpPr>
          <p:nvPr>
            <p:ph type="sldNum" sz="quarter" idx="4294967295"/>
          </p:nvPr>
        </p:nvSpPr>
        <p:spPr>
          <a:xfrm>
            <a:off x="11097259" y="6447704"/>
            <a:ext cx="127001" cy="1752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102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3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04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05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roposed Syste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dirty="0"/>
              <a:t>Proposed System</a:t>
            </a:r>
            <a:endParaRPr dirty="0"/>
          </a:p>
        </p:txBody>
      </p:sp>
      <p:sp>
        <p:nvSpPr>
          <p:cNvPr id="108" name="OpenTrail provides a unified platform for creating, joining, and managing group rides with all riders connected to a common ride session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r>
              <a:rPr lang="en-IN" b="0" dirty="0"/>
              <a:t>Smart Serve provides a centralized platform for login, menu browsing, customization, ordering, payment, and delivery/pickup management.</a:t>
            </a:r>
            <a:br>
              <a:rPr lang="en-IN" b="0" dirty="0"/>
            </a:br>
            <a:br>
              <a:rPr lang="en-IN" b="0" dirty="0"/>
            </a:br>
            <a:r>
              <a:rPr lang="en-IN" sz="2400" b="0" dirty="0"/>
              <a:t>Major Features:</a:t>
            </a:r>
            <a:endParaRPr lang="en-IN" sz="2400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User registration and authentication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Menu browsing and customization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Cart and scheduled ordering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Online payment and order tracking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Delivery and inventory management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Admin dashboard and feedback system</a:t>
            </a:r>
            <a:endParaRPr lang="en-IN" b="0" dirty="0"/>
          </a:p>
          <a:p>
            <a:pPr marL="203200" defTabSz="12700">
              <a:buSzPct val="100000"/>
              <a:defRPr b="0"/>
            </a:pPr>
            <a:br>
              <a:rPr lang="en-IN" b="0" dirty="0"/>
            </a:br>
            <a:endParaRPr b="0" dirty="0"/>
          </a:p>
        </p:txBody>
      </p:sp>
      <p:pic>
        <p:nvPicPr>
          <p:cNvPr id="109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0" name="4"/>
          <p:cNvSpPr txBox="1">
            <a:spLocks noGrp="1"/>
          </p:cNvSpPr>
          <p:nvPr>
            <p:ph type="sldNum" sz="quarter" idx="4294967295"/>
          </p:nvPr>
        </p:nvSpPr>
        <p:spPr>
          <a:xfrm>
            <a:off x="11097259" y="6447704"/>
            <a:ext cx="127001" cy="1752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11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12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13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DLC Model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t>SDLC Model</a:t>
            </a:r>
          </a:p>
        </p:txBody>
      </p:sp>
      <p:sp>
        <p:nvSpPr>
          <p:cNvPr id="116" name="Scrum"/>
          <p:cNvSpPr txBox="1">
            <a:spLocks noGrp="1"/>
          </p:cNvSpPr>
          <p:nvPr>
            <p:ph type="body" idx="1"/>
          </p:nvPr>
        </p:nvSpPr>
        <p:spPr>
          <a:xfrm>
            <a:off x="1018094" y="1193292"/>
            <a:ext cx="10258235" cy="522236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55600" indent="-152400" defTabSz="12700">
              <a:lnSpc>
                <a:spcPct val="135000"/>
              </a:lnSpc>
              <a:buSzPct val="100000"/>
              <a:buFont typeface="Helvetica Neue"/>
              <a:buChar char="•"/>
            </a:lvl1pPr>
          </a:lstStyle>
          <a:p>
            <a:pPr marL="203200" indent="0">
              <a:buNone/>
            </a:pPr>
            <a:r>
              <a:rPr lang="en-IN" b="0" dirty="0"/>
              <a:t>  </a:t>
            </a:r>
            <a:r>
              <a:rPr lang="en-IN" sz="3200" dirty="0"/>
              <a:t>Agile</a:t>
            </a:r>
            <a:r>
              <a:rPr lang="en-IN" sz="2400" dirty="0"/>
              <a:t> </a:t>
            </a:r>
            <a:r>
              <a:rPr lang="en-IN" sz="3200" dirty="0"/>
              <a:t>Model</a:t>
            </a:r>
            <a:endParaRPr lang="en-IN" sz="3200" dirty="0"/>
          </a:p>
          <a:p>
            <a:pPr lvl="0"/>
            <a:endParaRPr lang="en-IN" b="0" dirty="0"/>
          </a:p>
          <a:p>
            <a:pPr lvl="0"/>
            <a:r>
              <a:rPr lang="en-IN" sz="3200" b="0" dirty="0"/>
              <a:t>Identify requirements and user needs.</a:t>
            </a:r>
            <a:endParaRPr lang="en-IN" sz="3200" b="0" dirty="0"/>
          </a:p>
          <a:p>
            <a:pPr lvl="0"/>
            <a:endParaRPr lang="en-IN" sz="3200" b="0" dirty="0"/>
          </a:p>
          <a:p>
            <a:pPr lvl="0"/>
            <a:r>
              <a:rPr lang="en-IN" sz="3200" b="0" dirty="0"/>
              <a:t>Design architecture, database, and modules.</a:t>
            </a:r>
            <a:endParaRPr lang="en-IN" sz="3200" b="0" dirty="0"/>
          </a:p>
          <a:p>
            <a:pPr lvl="0"/>
            <a:endParaRPr lang="en-IN" sz="3200" b="0" dirty="0"/>
          </a:p>
          <a:p>
            <a:pPr lvl="0"/>
            <a:r>
              <a:rPr lang="en-IN" sz="3200" b="0" dirty="0"/>
              <a:t>Develop UI and database structure.</a:t>
            </a:r>
            <a:endParaRPr lang="en-IN" sz="3200" b="0" dirty="0"/>
          </a:p>
          <a:p>
            <a:pPr lvl="0"/>
            <a:endParaRPr lang="en-IN" sz="3200" b="0" dirty="0"/>
          </a:p>
          <a:p>
            <a:pPr lvl="0"/>
            <a:r>
              <a:rPr lang="en-IN" sz="3200" b="0" dirty="0"/>
              <a:t>Develop and integrate modules.</a:t>
            </a:r>
            <a:endParaRPr lang="en-IN" sz="3200" b="0" dirty="0"/>
          </a:p>
          <a:p>
            <a:pPr lvl="0"/>
            <a:endParaRPr lang="en-IN" sz="3200" b="0" dirty="0"/>
          </a:p>
          <a:p>
            <a:pPr lvl="0"/>
            <a:r>
              <a:rPr lang="en-IN" sz="3200" b="0" dirty="0"/>
              <a:t>Test functionality and fix errors.</a:t>
            </a:r>
            <a:endParaRPr lang="en-IN" sz="3200" b="0" dirty="0"/>
          </a:p>
          <a:p>
            <a:pPr lvl="0"/>
            <a:endParaRPr lang="en-IN" sz="3200" b="0" dirty="0"/>
          </a:p>
          <a:p>
            <a:pPr lvl="0"/>
            <a:r>
              <a:rPr lang="en-IN" sz="3200" b="0" dirty="0"/>
              <a:t>Deploy the web application.</a:t>
            </a:r>
            <a:endParaRPr lang="en-IN" sz="3200" b="0" dirty="0"/>
          </a:p>
          <a:p>
            <a:pPr lvl="0"/>
            <a:endParaRPr lang="en-IN" sz="3200" b="0" dirty="0"/>
          </a:p>
          <a:p>
            <a:pPr lvl="0"/>
            <a:r>
              <a:rPr lang="en-IN" sz="3200" b="0" dirty="0"/>
              <a:t>Improve based on feedback.</a:t>
            </a:r>
            <a:endParaRPr lang="en-IN" sz="3200" b="0" dirty="0"/>
          </a:p>
          <a:p>
            <a:endParaRPr sz="2600" b="0" dirty="0"/>
          </a:p>
        </p:txBody>
      </p:sp>
      <p:sp>
        <p:nvSpPr>
          <p:cNvPr id="117" name="4"/>
          <p:cNvSpPr txBox="1">
            <a:spLocks noGrp="1"/>
          </p:cNvSpPr>
          <p:nvPr>
            <p:ph type="sldNum" sz="quarter" idx="4294967295"/>
          </p:nvPr>
        </p:nvSpPr>
        <p:spPr>
          <a:xfrm>
            <a:off x="11097259" y="6447704"/>
            <a:ext cx="127001" cy="1752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118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20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21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lang="en-IN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quirement Analysis"/>
          <p:cNvSpPr txBox="1">
            <a:spLocks noGrp="1"/>
          </p:cNvSpPr>
          <p:nvPr>
            <p:ph type="title"/>
          </p:nvPr>
        </p:nvSpPr>
        <p:spPr>
          <a:xfrm>
            <a:off x="1602994" y="3141979"/>
            <a:ext cx="8986012" cy="574042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Requirement Analysis</a:t>
            </a:r>
          </a:p>
        </p:txBody>
      </p:sp>
      <p:sp>
        <p:nvSpPr>
          <p:cNvPr id="124" name="4"/>
          <p:cNvSpPr txBox="1">
            <a:spLocks noGrp="1"/>
          </p:cNvSpPr>
          <p:nvPr>
            <p:ph type="sldNum" sz="quarter" idx="4294967295"/>
          </p:nvPr>
        </p:nvSpPr>
        <p:spPr>
          <a:xfrm>
            <a:off x="11097259" y="6447704"/>
            <a:ext cx="127001" cy="1752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125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6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27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28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31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lang="en-US" dirty="0"/>
          </a:p>
        </p:txBody>
      </p:sp>
      <p:pic>
        <p:nvPicPr>
          <p:cNvPr id="132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3" name="object 4"/>
          <p:cNvSpPr txBox="1">
            <a:spLocks noGrp="1"/>
          </p:cNvSpPr>
          <p:nvPr>
            <p:ph type="title"/>
          </p:nvPr>
        </p:nvSpPr>
        <p:spPr>
          <a:xfrm>
            <a:off x="1602993" y="442340"/>
            <a:ext cx="8986013" cy="53089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indent="88900" algn="ctr">
              <a:spcBef>
                <a:spcPts val="100"/>
              </a:spcBef>
            </a:lvl1pPr>
          </a:lstStyle>
          <a:p>
            <a:pPr>
              <a:defRPr spc="-100"/>
            </a:pPr>
            <a:r>
              <a:rPr spc="0"/>
              <a:t>Functional Requirements</a:t>
            </a:r>
            <a:endParaRPr spc="0"/>
          </a:p>
        </p:txBody>
      </p:sp>
      <p:sp>
        <p:nvSpPr>
          <p:cNvPr id="134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35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097259" y="6447704"/>
            <a:ext cx="127001" cy="1752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36" name="User Authentication using Firebase(Sign In with google)…"/>
          <p:cNvSpPr txBox="1"/>
          <p:nvPr/>
        </p:nvSpPr>
        <p:spPr>
          <a:xfrm>
            <a:off x="1645774" y="1673111"/>
            <a:ext cx="8986012" cy="501675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secure login.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and customize food items.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shopping cart.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and manage food orders.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online payments.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pickup or delivery.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users, menu, inventory and orders.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ratings and reviews.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0670" indent="-280670">
              <a:buSzPct val="100000"/>
              <a:buChar char="•"/>
              <a:defRPr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40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pic>
        <p:nvPicPr>
          <p:cNvPr id="141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2" name="object 4"/>
          <p:cNvSpPr txBox="1">
            <a:spLocks noGrp="1"/>
          </p:cNvSpPr>
          <p:nvPr>
            <p:ph type="title"/>
          </p:nvPr>
        </p:nvSpPr>
        <p:spPr>
          <a:xfrm>
            <a:off x="1602993" y="442340"/>
            <a:ext cx="8986013" cy="1120820"/>
          </a:xfrm>
          <a:prstGeom prst="rect">
            <a:avLst/>
          </a:prstGeom>
        </p:spPr>
        <p:txBody>
          <a:bodyPr/>
          <a:lstStyle>
            <a:lvl1pPr indent="88900" algn="ctr">
              <a:spcBef>
                <a:spcPts val="100"/>
              </a:spcBef>
            </a:lvl1pPr>
          </a:lstStyle>
          <a:p>
            <a:r>
              <a:t>Non-Functional Requirements</a:t>
            </a:r>
          </a:p>
        </p:txBody>
      </p:sp>
      <p:sp>
        <p:nvSpPr>
          <p:cNvPr id="143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44" name="object 8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45" name="Performance…"/>
          <p:cNvSpPr txBox="1"/>
          <p:nvPr/>
        </p:nvSpPr>
        <p:spPr>
          <a:xfrm>
            <a:off x="1472353" y="1394932"/>
            <a:ext cx="9247294" cy="470898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data protection.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system performance.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order processing and data storage.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future users and features.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SzPct val="100000"/>
              <a:buChar char="•"/>
              <a:defRPr sz="2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User Requirement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t>User Requirements</a:t>
            </a:r>
          </a:p>
        </p:txBody>
      </p:sp>
      <p:sp>
        <p:nvSpPr>
          <p:cNvPr id="148" name="Register and sign in using Firebase Authentication.…"/>
          <p:cNvSpPr txBox="1">
            <a:spLocks noGrp="1"/>
          </p:cNvSpPr>
          <p:nvPr>
            <p:ph type="body" idx="1"/>
          </p:nvPr>
        </p:nvSpPr>
        <p:spPr>
          <a:xfrm>
            <a:off x="915669" y="1420722"/>
            <a:ext cx="3609197" cy="2859047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IN" dirty="0"/>
              <a:t>Customer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Register and log in.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View food menu.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Customize and order food.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Manage cart.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Make payments.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Select pickup or delivery.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Track orders. </a:t>
            </a:r>
            <a:endParaRPr lang="en-IN" b="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0" dirty="0"/>
              <a:t>Submit ratings and reviews. </a:t>
            </a:r>
            <a:endParaRPr lang="en-IN" b="0" dirty="0"/>
          </a:p>
          <a:p>
            <a:pPr marL="355600" indent="-152400" defTabSz="12700">
              <a:lnSpc>
                <a:spcPct val="135000"/>
              </a:lnSpc>
              <a:buSzPct val="100000"/>
              <a:buFont typeface="TimesNewRomanPSMT"/>
              <a:buChar char="•"/>
              <a:defRPr b="0"/>
            </a:pPr>
            <a:endParaRPr b="0" dirty="0"/>
          </a:p>
        </p:txBody>
      </p:sp>
      <p:pic>
        <p:nvPicPr>
          <p:cNvPr id="149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0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sp>
        <p:nvSpPr>
          <p:cNvPr id="151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52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2" name="TextBox 1"/>
          <p:cNvSpPr txBox="1"/>
          <p:nvPr/>
        </p:nvSpPr>
        <p:spPr>
          <a:xfrm>
            <a:off x="6240665" y="1554546"/>
            <a:ext cx="3609197" cy="22159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menu and prices.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inventory.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orders.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activities.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27159" y="3886411"/>
            <a:ext cx="3501919" cy="16312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assigned orders.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delivery status.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assigned deliveries.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ystem Design"/>
          <p:cNvSpPr txBox="1">
            <a:spLocks noGrp="1"/>
          </p:cNvSpPr>
          <p:nvPr>
            <p:ph type="title"/>
          </p:nvPr>
        </p:nvSpPr>
        <p:spPr>
          <a:xfrm>
            <a:off x="1602994" y="3141979"/>
            <a:ext cx="8986012" cy="574042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System Design</a:t>
            </a:r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56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pic>
        <p:nvPicPr>
          <p:cNvPr id="157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8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59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ystem Archit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t>System Architecture</a:t>
            </a:r>
          </a:p>
        </p:txBody>
      </p:sp>
      <p:sp>
        <p:nvSpPr>
          <p:cNvPr id="162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 </a:t>
            </a:r>
          </a:p>
        </p:txBody>
      </p:sp>
      <p:pic>
        <p:nvPicPr>
          <p:cNvPr id="163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5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sp>
        <p:nvSpPr>
          <p:cNvPr id="166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67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160" y="1348033"/>
            <a:ext cx="7486957" cy="493205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87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pic>
        <p:nvPicPr>
          <p:cNvPr id="188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9" name="object 4"/>
          <p:cNvSpPr txBox="1">
            <a:spLocks noGrp="1"/>
          </p:cNvSpPr>
          <p:nvPr>
            <p:ph type="title"/>
          </p:nvPr>
        </p:nvSpPr>
        <p:spPr>
          <a:xfrm>
            <a:off x="1602993" y="442340"/>
            <a:ext cx="8986013" cy="1120820"/>
          </a:xfrm>
          <a:prstGeom prst="rect">
            <a:avLst/>
          </a:prstGeom>
        </p:spPr>
        <p:txBody>
          <a:bodyPr/>
          <a:lstStyle/>
          <a:p>
            <a:pPr indent="88900" algn="ctr">
              <a:spcBef>
                <a:spcPts val="100"/>
              </a:spcBef>
            </a:pPr>
            <a:r>
              <a:t>Use Case Diagram</a:t>
            </a:r>
            <a:br/>
          </a:p>
        </p:txBody>
      </p:sp>
      <p:sp>
        <p:nvSpPr>
          <p:cNvPr id="190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91" name="object 8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" name="Text Box 1"/>
          <p:cNvSpPr txBox="1"/>
          <p:nvPr/>
        </p:nvSpPr>
        <p:spPr>
          <a:xfrm>
            <a:off x="1333500" y="1278255"/>
            <a:ext cx="9763125" cy="49371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 panose="020F0502020204030204"/>
            </a:endParaRPr>
          </a:p>
        </p:txBody>
      </p:sp>
      <p:pic>
        <p:nvPicPr>
          <p:cNvPr id="3" name="Picture 2" descr="USE ADITHIY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740" y="1344930"/>
            <a:ext cx="9206865" cy="50126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ER Diagra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t>ER Diagram </a:t>
            </a:r>
          </a:p>
        </p:txBody>
      </p:sp>
      <p:sp>
        <p:nvSpPr>
          <p:cNvPr id="171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 </a:t>
            </a:r>
          </a:p>
        </p:txBody>
      </p:sp>
      <p:pic>
        <p:nvPicPr>
          <p:cNvPr id="172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4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75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sp>
        <p:nvSpPr>
          <p:cNvPr id="176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77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080" y="1279017"/>
            <a:ext cx="8939035" cy="512108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ER Diagram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lang="en-US" dirty="0"/>
              <a:t>DFD</a:t>
            </a:r>
            <a:r>
              <a:rPr dirty="0"/>
              <a:t> Diagram </a:t>
            </a:r>
            <a:endParaRPr dirty="0"/>
          </a:p>
        </p:txBody>
      </p:sp>
      <p:sp>
        <p:nvSpPr>
          <p:cNvPr id="171" name="Double-click to edi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 </a:t>
            </a:r>
            <a:endParaRPr dirty="0"/>
          </a:p>
        </p:txBody>
      </p:sp>
      <p:pic>
        <p:nvPicPr>
          <p:cNvPr id="172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4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75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sp>
        <p:nvSpPr>
          <p:cNvPr id="176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77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617" y="1160082"/>
            <a:ext cx="8843716" cy="525557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180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1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82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sp>
        <p:nvSpPr>
          <p:cNvPr id="183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84" name="Implementation Plan"/>
          <p:cNvSpPr txBox="1">
            <a:spLocks noGrp="1"/>
          </p:cNvSpPr>
          <p:nvPr>
            <p:ph type="title"/>
          </p:nvPr>
        </p:nvSpPr>
        <p:spPr>
          <a:xfrm>
            <a:off x="1678041" y="420768"/>
            <a:ext cx="8986012" cy="574042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dirty="0"/>
              <a:t>Implementation Plan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1891319" y="1443842"/>
            <a:ext cx="2876748" cy="53245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(React 19)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(PostgreSQL)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(REST API)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Django REST Framework (Backend) + React (Frontend)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(Neon Serverless)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/ GitHub, Vercel CLI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IN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231" name="object 2"/>
          <p:cNvSpPr txBox="1"/>
          <p:nvPr/>
        </p:nvSpPr>
        <p:spPr>
          <a:xfrm>
            <a:off x="24739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pic>
        <p:nvPicPr>
          <p:cNvPr id="232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3" name="object 4"/>
          <p:cNvSpPr txBox="1">
            <a:spLocks noGrp="1"/>
          </p:cNvSpPr>
          <p:nvPr>
            <p:ph type="title"/>
          </p:nvPr>
        </p:nvSpPr>
        <p:spPr>
          <a:xfrm>
            <a:off x="1602993" y="442340"/>
            <a:ext cx="8986013" cy="1120820"/>
          </a:xfrm>
          <a:prstGeom prst="rect">
            <a:avLst/>
          </a:prstGeom>
        </p:spPr>
        <p:txBody>
          <a:bodyPr/>
          <a:lstStyle/>
          <a:p>
            <a:pPr indent="88900" algn="ctr">
              <a:spcBef>
                <a:spcPts val="100"/>
              </a:spcBef>
            </a:pPr>
            <a:r>
              <a:t>Technology Stack</a:t>
            </a:r>
            <a:br/>
          </a:p>
        </p:txBody>
      </p:sp>
      <p:sp>
        <p:nvSpPr>
          <p:cNvPr id="234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235" name="object 8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36" name="Rectangle"/>
          <p:cNvSpPr/>
          <p:nvPr/>
        </p:nvSpPr>
        <p:spPr>
          <a:xfrm>
            <a:off x="2963033" y="1613071"/>
            <a:ext cx="7532407" cy="4442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/>
        </p:txBody>
      </p:sp>
      <p:graphicFrame>
        <p:nvGraphicFramePr>
          <p:cNvPr id="237" name="Table 1"/>
          <p:cNvGraphicFramePr/>
          <p:nvPr/>
        </p:nvGraphicFramePr>
        <p:xfrm>
          <a:off x="2832100" y="1225485"/>
          <a:ext cx="6531610" cy="51000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265805"/>
                <a:gridCol w="3265805"/>
              </a:tblGrid>
              <a:tr h="5184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Category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Technology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19, Vite, Tailwind CSS v4, React Router v6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Django REST Framework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 (Neon Serverless)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Framework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Django 5 + DRF, JWT Auth (SimpleJWT)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 Studio Code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Version Control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 / GitHub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System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Windows / Cross-platform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Deployment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Vercel (Frontend + Backend, separate projects)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JWT (djangorestframework-simplejwt)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Razorpay (UPI / Card / Netbanking)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Co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/>
          </a:lstStyle>
          <a:p>
            <a:r>
              <a:rPr dirty="0"/>
              <a:t>Coding</a:t>
            </a:r>
            <a:endParaRPr dirty="0"/>
          </a:p>
        </p:txBody>
      </p:sp>
      <p:sp>
        <p:nvSpPr>
          <p:cNvPr id="240" name="1. Firebase authentication…"/>
          <p:cNvSpPr txBox="1">
            <a:spLocks noGrp="1"/>
          </p:cNvSpPr>
          <p:nvPr>
            <p:ph type="body" idx="1"/>
          </p:nvPr>
        </p:nvSpPr>
        <p:spPr>
          <a:xfrm>
            <a:off x="1198245" y="1354455"/>
            <a:ext cx="10594975" cy="117665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35000"/>
              </a:lnSpc>
              <a:buFont typeface="Arial" panose="020B0604020202020204" pitchFamily="34" charset="0"/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720"/>
            </a:pPr>
            <a:r>
              <a:rPr lang="en-US" sz="1800" b="0" dirty="0"/>
              <a:t> MENU SERVICE:</a:t>
            </a:r>
            <a:endParaRPr lang="en-US" sz="1800" b="0" dirty="0"/>
          </a:p>
          <a:p>
            <a:pPr>
              <a:lnSpc>
                <a:spcPct val="135000"/>
              </a:lnSpc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720"/>
            </a:pPr>
            <a:r>
              <a:rPr lang="en-US" sz="1800" b="0" dirty="0"/>
              <a:t>     “Here it displays the food items which will be currently available.”</a:t>
            </a:r>
            <a:endParaRPr lang="en-US" sz="1800" b="0" dirty="0"/>
          </a:p>
          <a:p>
            <a:pPr>
              <a:lnSpc>
                <a:spcPct val="135000"/>
              </a:lnSpc>
              <a:buFont typeface="Arial" panose="020B0604020202020204" pitchFamily="34" charset="0"/>
              <a:tabLst>
                <a:tab pos="304800" algn="l"/>
                <a:tab pos="609600" algn="l"/>
                <a:tab pos="914400" algn="l"/>
                <a:tab pos="1219200" algn="l"/>
                <a:tab pos="1524000" algn="l"/>
                <a:tab pos="1828800" algn="l"/>
                <a:tab pos="2133600" algn="l"/>
                <a:tab pos="2438400" algn="l"/>
                <a:tab pos="2743200" algn="l"/>
                <a:tab pos="3048000" algn="l"/>
                <a:tab pos="3352800" algn="l"/>
                <a:tab pos="3657600" algn="l"/>
              </a:tabLst>
              <a:defRPr sz="1720"/>
            </a:pPr>
            <a:endParaRPr lang="en-US" sz="1800" b="0" dirty="0"/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42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243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pic>
        <p:nvPicPr>
          <p:cNvPr id="244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5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pic>
        <p:nvPicPr>
          <p:cNvPr id="3" name="Picture 2" descr="WhatsApp Image 2026-09-17 at 2.00.14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20" y="2444115"/>
            <a:ext cx="5290820" cy="369506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Outcom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Outcomes</a:t>
            </a:r>
          </a:p>
        </p:txBody>
      </p:sp>
      <p:sp>
        <p:nvSpPr>
          <p:cNvPr id="248" name="Developed a functional mobile application for group ride coordination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digital canteen management.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menu access and faster food ordering.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cart, payment, and order process.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work and improved order management.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menu and inventory management.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storage of orders and transactions.</a:t>
            </a: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defTabSz="12700"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0"/>
            </a:pPr>
            <a:r>
              <a:rPr lang="en-US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overall canteen efficiency.</a:t>
            </a:r>
            <a:endParaRPr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50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251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pic>
        <p:nvPicPr>
          <p:cNvPr id="252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3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Outcom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Conclusion</a:t>
            </a:r>
            <a:endParaRPr dirty="0"/>
          </a:p>
        </p:txBody>
      </p:sp>
      <p:sp>
        <p:nvSpPr>
          <p:cNvPr id="248" name="Developed a functional mobile application for group ride coordination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b="0" dirty="0" smtClean="0"/>
              <a:t>Smart </a:t>
            </a:r>
            <a:r>
              <a:rPr lang="en-IN" b="0" dirty="0"/>
              <a:t>Serve provides a centralized web-based platform for managing college canteen operations. It integrates food ordering, payment, menu management, inventory, and delivery into a single system.</a:t>
            </a:r>
            <a:endParaRPr lang="en-IN" b="0" dirty="0"/>
          </a:p>
          <a:p>
            <a:pPr>
              <a:lnSpc>
                <a:spcPct val="150000"/>
              </a:lnSpc>
            </a:pPr>
            <a:r>
              <a:rPr lang="en-IN" b="0" dirty="0"/>
              <a:t>It helps reduce waiting time and provides a convenient experience for customers while simplifying canteen administration.</a:t>
            </a:r>
            <a:endParaRPr lang="en-IN" b="0" dirty="0"/>
          </a:p>
          <a:p>
            <a:endParaRPr lang="en-IN" b="0" dirty="0"/>
          </a:p>
        </p:txBody>
      </p:sp>
      <p:sp>
        <p:nvSpPr>
          <p:cNvPr id="249" name="Slide Number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250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251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dirty="0"/>
          </a:p>
        </p:txBody>
      </p:sp>
      <p:pic>
        <p:nvPicPr>
          <p:cNvPr id="252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3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object 7"/>
          <p:cNvSpPr txBox="1"/>
          <p:nvPr/>
        </p:nvSpPr>
        <p:spPr>
          <a:xfrm>
            <a:off x="4330446" y="6447704"/>
            <a:ext cx="3531871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indent="12700">
              <a:lnSpc>
                <a:spcPts val="1400"/>
              </a:lnSpc>
              <a:defRPr sz="1200" i="1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r>
              <a:t>Department</a:t>
            </a:r>
            <a:r>
              <a:rPr spc="-30"/>
              <a:t> </a:t>
            </a:r>
            <a:r>
              <a:t>of</a:t>
            </a:r>
            <a:r>
              <a:rPr spc="-35"/>
              <a:t> </a:t>
            </a:r>
            <a:r>
              <a:t>Computer</a:t>
            </a:r>
            <a:r>
              <a:rPr spc="-40"/>
              <a:t> </a:t>
            </a:r>
            <a:r>
              <a:t>Science and</a:t>
            </a:r>
            <a:r>
              <a:rPr spc="-40"/>
              <a:t> </a:t>
            </a:r>
            <a:r>
              <a:t>Engineering,</a:t>
            </a:r>
            <a:r>
              <a:rPr spc="-30"/>
              <a:t> </a:t>
            </a:r>
            <a:r>
              <a:rPr spc="-20"/>
              <a:t>SSET</a:t>
            </a:r>
            <a:endParaRPr spc="-20"/>
          </a:p>
        </p:txBody>
      </p:sp>
      <p:sp>
        <p:nvSpPr>
          <p:cNvPr id="131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lang="en-US" dirty="0"/>
          </a:p>
        </p:txBody>
      </p:sp>
      <p:pic>
        <p:nvPicPr>
          <p:cNvPr id="132" name="object 3" descr="object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28" y="136562"/>
            <a:ext cx="1254989" cy="11424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3" name="object 4"/>
          <p:cNvSpPr txBox="1">
            <a:spLocks noGrp="1"/>
          </p:cNvSpPr>
          <p:nvPr>
            <p:ph type="title"/>
          </p:nvPr>
        </p:nvSpPr>
        <p:spPr>
          <a:xfrm>
            <a:off x="1602993" y="442340"/>
            <a:ext cx="8986013" cy="530899"/>
          </a:xfrm>
          <a:prstGeom prst="rect">
            <a:avLst/>
          </a:prstGeom>
        </p:spPr>
        <p:txBody>
          <a:bodyPr>
            <a:normAutofit fontScale="90000"/>
          </a:bodyPr>
          <a:lstStyle>
            <a:lvl1pPr indent="88900" algn="ctr">
              <a:spcBef>
                <a:spcPts val="100"/>
              </a:spcBef>
            </a:lvl1pPr>
          </a:lstStyle>
          <a:p>
            <a:pPr>
              <a:defRPr spc="-100"/>
            </a:pPr>
            <a:r>
              <a:rPr spc="0"/>
              <a:t>Project Links &amp; Deployment</a:t>
            </a:r>
            <a:endParaRPr spc="0"/>
          </a:p>
        </p:txBody>
      </p:sp>
      <p:sp>
        <p:nvSpPr>
          <p:cNvPr id="134" name="object 6"/>
          <p:cNvSpPr txBox="1"/>
          <p:nvPr/>
        </p:nvSpPr>
        <p:spPr>
          <a:xfrm>
            <a:off x="916938" y="6447704"/>
            <a:ext cx="735965" cy="17520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indent="12700">
              <a:lnSpc>
                <a:spcPts val="1400"/>
              </a:lnSpc>
              <a:defRPr sz="1200" spc="-10">
                <a:solidFill>
                  <a:srgbClr val="88888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17-09-2026</a:t>
            </a:r>
          </a:p>
        </p:txBody>
      </p:sp>
      <p:sp>
        <p:nvSpPr>
          <p:cNvPr id="135" name="object 8"/>
          <p:cNvSpPr txBox="1">
            <a:spLocks noGrp="1"/>
          </p:cNvSpPr>
          <p:nvPr>
            <p:ph type="sldNum" sz="quarter" idx="4294967295"/>
          </p:nvPr>
        </p:nvSpPr>
        <p:spPr>
          <a:xfrm>
            <a:off x="11097259" y="6447704"/>
            <a:ext cx="127001" cy="17520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36" name="User Authentication using Firebase(Sign In with google)…"/>
          <p:cNvSpPr txBox="1"/>
          <p:nvPr/>
        </p:nvSpPr>
        <p:spPr>
          <a:xfrm>
            <a:off x="1645774" y="1673111"/>
            <a:ext cx="8986012" cy="501675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Repository: github.com/Aditya7uday/-Smart-Serve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Website: smart-serve-chi.vercel.app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API: smart-serve-koud.vercel.app/api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(Neon PostgreSQL): postgresql://neondb_owner:npg_YXxUJOGbVo43@ep-hidden-shape-b4nno4uh-pooler.c-6.us-east-2.aws.neon.tech/neondb?sslmode=require&amp;channel_binding=require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Gateway: Razorpay (Test Mode)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Hosting: Vercel (separate frontend + backend projects)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Login: customer@smartserve.demo / password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 dev (PR open to main for review)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0670" indent="-280670">
              <a:buSzPct val="100000"/>
              <a:buChar char="•"/>
              <a:defRPr sz="20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object 2"/>
          <p:cNvSpPr txBox="1"/>
          <p:nvPr/>
        </p:nvSpPr>
        <p:spPr>
          <a:xfrm>
            <a:off x="2486659" y="81403"/>
            <a:ext cx="8610601" cy="18402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1200" i="1">
                <a:solidFill>
                  <a:srgbClr val="33333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5896</Words>
  <Application>WPS Presentation</Application>
  <PresentationFormat>Widescreen</PresentationFormat>
  <Paragraphs>404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SimSun</vt:lpstr>
      <vt:lpstr>Wingdings</vt:lpstr>
      <vt:lpstr>Calibri</vt:lpstr>
      <vt:lpstr>Times New Roman</vt:lpstr>
      <vt:lpstr>Times New Roman</vt:lpstr>
      <vt:lpstr>TimesNewRomanPSMT</vt:lpstr>
      <vt:lpstr>Helvetica Neue</vt:lpstr>
      <vt:lpstr>Microsoft YaHei</vt:lpstr>
      <vt:lpstr>Arial Unicode MS</vt:lpstr>
      <vt:lpstr>Calibri Light</vt:lpstr>
      <vt:lpstr>Helvetica</vt:lpstr>
      <vt:lpstr>Calibri</vt:lpstr>
      <vt:lpstr>Office Theme</vt:lpstr>
      <vt:lpstr>SCMS SCHOOL OF ENGINEERING AND TECHNOLOGY DEPARTMENT OF COMPUTER SCIENCE AND ENGINEERING P.G. PROGRAMME- MCA</vt:lpstr>
      <vt:lpstr>Introduction</vt:lpstr>
      <vt:lpstr>Problem Definition</vt:lpstr>
      <vt:lpstr>Objectives</vt:lpstr>
      <vt:lpstr>Existing System</vt:lpstr>
      <vt:lpstr>Proposed System</vt:lpstr>
      <vt:lpstr>SDLC Model</vt:lpstr>
      <vt:lpstr>Requirement Analysis</vt:lpstr>
      <vt:lpstr>Functional Requirements</vt:lpstr>
      <vt:lpstr>Non-Functional Requirements</vt:lpstr>
      <vt:lpstr>User Requirements</vt:lpstr>
      <vt:lpstr>System Design</vt:lpstr>
      <vt:lpstr>System Architecture</vt:lpstr>
      <vt:lpstr>Use Case Diagram </vt:lpstr>
      <vt:lpstr>ER Diagram </vt:lpstr>
      <vt:lpstr>DFD Diagram </vt:lpstr>
      <vt:lpstr>Implementation Plan</vt:lpstr>
      <vt:lpstr>Technology Stack </vt:lpstr>
      <vt:lpstr>Coding</vt:lpstr>
      <vt:lpstr>Outcomes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SCMS SCHOOL OF ENGINEERING AND TECHNOLOGY DEPARTMENT OF COMPUTER SCIENCE AND ENGINEERING P.G. PROGRAMME- MCA</dc:title>
  <dc:creator>Aditya Uday</dc:creator>
  <cp:lastModifiedBy>anjoj</cp:lastModifiedBy>
  <cp:revision>7</cp:revision>
  <dcterms:created xsi:type="dcterms:W3CDTF">2026-09-17T06:46:00Z</dcterms:created>
  <dcterms:modified xsi:type="dcterms:W3CDTF">2026-09-17T08:41:41Z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D22949FF212F4A2F9375F6A27FF8EABB_13</vt:lpwstr>
  </property>
</Properties>
</file>